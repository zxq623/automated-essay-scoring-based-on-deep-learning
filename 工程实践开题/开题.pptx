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9" autoAdjust="0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5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568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F4C542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77724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64008" cy="2560320"/>
          </a:xfrm>
          <a:prstGeom prst="rect">
            <a:avLst/>
          </a:prstGeom>
          <a:solidFill>
            <a:srgbClr val="7FB0E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3716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基于深度学习的文本作业自动评分系统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开题答辩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97280" y="3108960"/>
            <a:ext cx="2286000" cy="27432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206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组员：5组    张浩恩    张明哲    张享钦    赵柏杨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汇报人：张享钦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43000" y="2011680"/>
            <a:ext cx="29260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011680"/>
            <a:ext cx="64008" cy="365760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691640" y="3291840"/>
            <a:ext cx="1828800" cy="27432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566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17720" y="2011680"/>
            <a:ext cx="29260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011680"/>
            <a:ext cx="64008" cy="365760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5166360" y="3291840"/>
            <a:ext cx="1828800" cy="27432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3566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具体方案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92440" y="2011680"/>
            <a:ext cx="29260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2440" y="2011680"/>
            <a:ext cx="64008" cy="36576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800" dirty="0"/>
          </a:p>
        </p:txBody>
      </p:sp>
      <p:sp>
        <p:nvSpPr>
          <p:cNvPr id="19" name="Shape 17"/>
          <p:cNvSpPr/>
          <p:nvPr/>
        </p:nvSpPr>
        <p:spPr>
          <a:xfrm>
            <a:off x="8641080" y="3291840"/>
            <a:ext cx="1828800" cy="27432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3566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4709160" y="2560320"/>
            <a:ext cx="2743200" cy="36576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7432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选题背景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512064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64008" cy="475488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现实痛点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1488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传统文本作业评分依赖教师人工完成，效率低下，易受疲劳、情绪影响导致评分偏差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一致性不足，不同教师对同一篇作业的评分差异可达 1–2 分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反馈周期长，难以及时优化学习策略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4343400"/>
            <a:ext cx="4572000" cy="18288"/>
          </a:xfrm>
          <a:prstGeom prst="rect">
            <a:avLst/>
          </a:prstGeom>
          <a:solidFill>
            <a:srgbClr val="D8E0E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49834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通过深度学习模型实现“语义级理解 + 自动化评分”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单份作业评分时间缩短至秒级，统一评分逻辑提升一致性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有效缓解教育资源紧张地区的批改压力，保障评分公平性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00200"/>
            <a:ext cx="4846638" cy="4513729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600200"/>
            <a:ext cx="54720" cy="4513729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737360"/>
            <a:ext cx="4377609" cy="34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37960" y="2331720"/>
            <a:ext cx="4377609" cy="1041630"/>
          </a:xfrm>
          <a:prstGeom prst="rect">
            <a:avLst/>
          </a:prstGeom>
          <a:solidFill>
            <a:srgbClr val="E9F1FD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2423160"/>
            <a:ext cx="547201" cy="868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52360" y="2423160"/>
            <a:ext cx="1172574" cy="434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52360" y="2834640"/>
            <a:ext cx="3283206" cy="434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秒级评分，告别人工阅卷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3611880"/>
            <a:ext cx="4377609" cy="1041630"/>
          </a:xfrm>
          <a:prstGeom prst="rect">
            <a:avLst/>
          </a:prstGeom>
          <a:solidFill>
            <a:srgbClr val="E9F1FD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20840" y="3703320"/>
            <a:ext cx="547201" cy="868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⚖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452360" y="3703320"/>
            <a:ext cx="1172574" cy="434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52360" y="4114800"/>
            <a:ext cx="3283206" cy="434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统一标准，消除主观偏差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37960" y="4892040"/>
            <a:ext cx="4377609" cy="1041630"/>
          </a:xfrm>
          <a:prstGeom prst="rect">
            <a:avLst/>
          </a:prstGeom>
          <a:solidFill>
            <a:srgbClr val="E9F1FD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20840" y="4983480"/>
            <a:ext cx="547201" cy="868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452360" y="4983480"/>
            <a:ext cx="1172574" cy="434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52360" y="5394960"/>
            <a:ext cx="3283206" cy="434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基础统计分析，辅助教学优化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选题背景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研究现状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33832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600200"/>
            <a:ext cx="64008" cy="219456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传统机器学习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Williamson 等基于手工特征构建评分模型，特征工程成本高，泛化性差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9080" y="2514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C542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1600200"/>
            <a:ext cx="33832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600200"/>
            <a:ext cx="64008" cy="219456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 (CNN/LSTM)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240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Taghipour &amp; Ng 首次提出基于 LSTM 的端到端 AES 模型，解决手工特征泛化性差的问题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2514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C542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92440" y="1600200"/>
            <a:ext cx="33832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92440" y="1600200"/>
            <a:ext cx="64008" cy="219456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/ 预训练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2240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BERT/RoBERTa 等预训练模型成为主流，自动提取深层语义特征，显著提升评分精度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3805" y="3886200"/>
            <a:ext cx="530352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3805" y="3886200"/>
            <a:ext cx="64008" cy="256032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23" name="Text 21"/>
          <p:cNvSpPr/>
          <p:nvPr/>
        </p:nvSpPr>
        <p:spPr>
          <a:xfrm>
            <a:off x="908125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A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国内研究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8125" y="43891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 等针对中文作文设计 HMTS 模型，支持多维评分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Song 等提出“多阶段预训练”方案，解决中文学生作文特征适配问题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聚焦“非英语文本评分”与“教育场景定制”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1645" y="3886200"/>
            <a:ext cx="530352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1645" y="3886200"/>
            <a:ext cx="64008" cy="256032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27" name="Text 25"/>
          <p:cNvSpPr/>
          <p:nvPr/>
        </p:nvSpPr>
        <p:spPr>
          <a:xfrm>
            <a:off x="6485965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ASAP 数据集概览</a:t>
            </a:r>
            <a:endParaRPr lang="en-US" sz="1500" dirty="0"/>
          </a:p>
        </p:txBody>
      </p:sp>
      <p:pic>
        <p:nvPicPr>
          <p:cNvPr id="28" name="Image 0" descr="C:\Users\zxq\lab\data\school\ustc\课程\工程实践\data_analysis\score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85965" y="4389120"/>
            <a:ext cx="2377440" cy="18288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9046285" y="43891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个作文任务，约 24,000 篇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Kaggle 竞赛数据集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多位评分员人工标注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选题背景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63687" y="1417320"/>
            <a:ext cx="1060704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3687" y="1417320"/>
            <a:ext cx="64008" cy="493776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9" name="Text 7"/>
          <p:cNvSpPr/>
          <p:nvPr/>
        </p:nvSpPr>
        <p:spPr>
          <a:xfrm>
            <a:off x="938007" y="1600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Williamson D M, et al. "Mental model" comparison of automated and human scoring. JEM, 1999.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38007" y="2194560"/>
            <a:ext cx="10058400" cy="9144"/>
          </a:xfrm>
          <a:prstGeom prst="rect">
            <a:avLst/>
          </a:prstGeom>
          <a:solidFill>
            <a:srgbClr val="D8E0EA"/>
          </a:solidFill>
          <a:ln/>
        </p:spPr>
      </p:sp>
      <p:sp>
        <p:nvSpPr>
          <p:cNvPr id="11" name="Text 9"/>
          <p:cNvSpPr/>
          <p:nvPr/>
        </p:nvSpPr>
        <p:spPr>
          <a:xfrm>
            <a:off x="938007" y="2240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Hamner B, et al. The Hewlett Foundation: Automated Essay Scoring. Kaggle, 2012.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8007" y="2834640"/>
            <a:ext cx="10058400" cy="9144"/>
          </a:xfrm>
          <a:prstGeom prst="rect">
            <a:avLst/>
          </a:prstGeom>
          <a:solidFill>
            <a:srgbClr val="D8E0EA"/>
          </a:solidFill>
          <a:ln/>
        </p:spPr>
      </p:sp>
      <p:sp>
        <p:nvSpPr>
          <p:cNvPr id="13" name="Text 11"/>
          <p:cNvSpPr/>
          <p:nvPr/>
        </p:nvSpPr>
        <p:spPr>
          <a:xfrm>
            <a:off x="938007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Taghipour K, Ng H T. A neural approach to automated essay scoring. EMNLP, 2016.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8007" y="3474720"/>
            <a:ext cx="10058400" cy="9144"/>
          </a:xfrm>
          <a:prstGeom prst="rect">
            <a:avLst/>
          </a:prstGeom>
          <a:solidFill>
            <a:srgbClr val="D8E0EA"/>
          </a:solidFill>
          <a:ln/>
        </p:spPr>
      </p:sp>
      <p:sp>
        <p:nvSpPr>
          <p:cNvPr id="15" name="Text 13"/>
          <p:cNvSpPr/>
          <p:nvPr/>
        </p:nvSpPr>
        <p:spPr>
          <a:xfrm>
            <a:off x="938007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Yang R, et al. Enhancing AES via fine-tuning pretrained LMs with regression and classification. 2022.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8007" y="4114800"/>
            <a:ext cx="10058400" cy="9144"/>
          </a:xfrm>
          <a:prstGeom prst="rect">
            <a:avLst/>
          </a:prstGeom>
          <a:solidFill>
            <a:srgbClr val="D8E0EA"/>
          </a:solidFill>
          <a:ln/>
        </p:spPr>
      </p:sp>
      <p:sp>
        <p:nvSpPr>
          <p:cNvPr id="17" name="Text 15"/>
          <p:cNvSpPr/>
          <p:nvPr/>
        </p:nvSpPr>
        <p:spPr>
          <a:xfrm>
            <a:off x="938007" y="4160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 Misgna H, et al. A survey on deep learning-based AES and feedback generation. AIR, 2024.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007" y="4754880"/>
            <a:ext cx="10058400" cy="9144"/>
          </a:xfrm>
          <a:prstGeom prst="rect">
            <a:avLst/>
          </a:prstGeom>
          <a:solidFill>
            <a:srgbClr val="D8E0EA"/>
          </a:solidFill>
          <a:ln/>
        </p:spPr>
      </p:sp>
      <p:sp>
        <p:nvSpPr>
          <p:cNvPr id="19" name="Text 17"/>
          <p:cNvSpPr/>
          <p:nvPr/>
        </p:nvSpPr>
        <p:spPr>
          <a:xfrm>
            <a:off x="938007" y="4800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 He Y, et al. Automated Chinese essay scoring from multiple traits. COLING, 2022.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8007" y="5394960"/>
            <a:ext cx="10058400" cy="9144"/>
          </a:xfrm>
          <a:prstGeom prst="rect">
            <a:avLst/>
          </a:prstGeom>
          <a:solidFill>
            <a:srgbClr val="D8E0EA"/>
          </a:solidFill>
          <a:ln/>
        </p:spPr>
      </p:sp>
      <p:sp>
        <p:nvSpPr>
          <p:cNvPr id="21" name="Text 19"/>
          <p:cNvSpPr/>
          <p:nvPr/>
        </p:nvSpPr>
        <p:spPr>
          <a:xfrm>
            <a:off x="938007" y="5440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[7] Song W, et al. Multi-stage pre-training for automated Chinese essay scoring. EMNLP, 2020.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4709160" y="2560320"/>
            <a:ext cx="2743200" cy="36576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7432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具体方案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具体方案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51206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00200"/>
            <a:ext cx="64008" cy="210312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1783080"/>
            <a:ext cx="457200" cy="45720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1737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文本上传与解析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3774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支持多种上传方式，兼容 .doc、.docx、.txt 等常见文本格式，自动解析文本内容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1206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600200"/>
            <a:ext cx="64008" cy="210312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40880" y="1737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自动评分功能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23774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基于预训练模型（BERT 等），针对不同类型文本作业提供对应的推荐评分模型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3977640"/>
            <a:ext cx="51206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977640"/>
            <a:ext cx="64008" cy="210312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4160520"/>
            <a:ext cx="457200" cy="4572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评分结果与反馈展示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47548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以清晰的页面展示文本作业基本信息、评分结果、基础反馈内容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3977640"/>
            <a:ext cx="51206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977640"/>
            <a:ext cx="64008" cy="210312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27" name="Shape 25"/>
          <p:cNvSpPr/>
          <p:nvPr/>
        </p:nvSpPr>
        <p:spPr>
          <a:xfrm>
            <a:off x="6446520" y="4160520"/>
            <a:ext cx="457200" cy="4572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04088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3A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历史数据管理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6520" y="47548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系统自动存储所有文本作业的上传信息、评分标准设置、评分结果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具体方案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系统用例图</a:t>
            </a:r>
            <a:endParaRPr lang="en-US" sz="2600" dirty="0"/>
          </a:p>
        </p:txBody>
      </p:sp>
      <p:pic>
        <p:nvPicPr>
          <p:cNvPr id="7" name="Image 0" descr="C:\Users\zxq\lab\data\school\ustc\课程\工程实践\drawio\thesis_usecas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508760"/>
            <a:ext cx="658368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0" y="1325880"/>
            <a:ext cx="411480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0" y="1325880"/>
            <a:ext cx="64008" cy="502920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角色与功能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1965960"/>
            <a:ext cx="3749040" cy="1005840"/>
          </a:xfrm>
          <a:prstGeom prst="rect">
            <a:avLst/>
          </a:prstGeom>
          <a:solidFill>
            <a:srgbClr val="E9F1FD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63840" y="2039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63840" y="2423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单篇评分、批量评分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80960" y="3154680"/>
            <a:ext cx="3749040" cy="1005840"/>
          </a:xfrm>
          <a:prstGeom prst="rect">
            <a:avLst/>
          </a:prstGeom>
          <a:solidFill>
            <a:srgbClr val="E9F1FD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863840" y="3227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63840" y="3611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批量评分、历史记录查询、删除历史记录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80960" y="4343400"/>
            <a:ext cx="3749040" cy="1005840"/>
          </a:xfrm>
          <a:prstGeom prst="rect">
            <a:avLst/>
          </a:prstGeom>
          <a:solidFill>
            <a:srgbClr val="E9F1FD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863840" y="44165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3A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863840" y="4800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模型与数据维护、导出评分结果、删除历史记录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384280" y="6263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具体方案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45720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64008" cy="105156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BERT / RoBERTa 预训练模型，Hugging Face Transformers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788920"/>
            <a:ext cx="45720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88920"/>
            <a:ext cx="64008" cy="105156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前端框架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246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可视化界面，包含作业上传、评分展示区域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977640"/>
            <a:ext cx="45720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977640"/>
            <a:ext cx="64008" cy="105156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434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Flask-RESTful API，文本预处理、评分推理、结果返回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166360"/>
            <a:ext cx="45720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166360"/>
            <a:ext cx="64008" cy="105156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257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3A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5623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ASAP (Kaggle)、PeerRead，经预处理适配模型输入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23560" y="1600200"/>
            <a:ext cx="5660016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23560" y="1600200"/>
            <a:ext cx="57420" cy="461772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25" name="Text 23"/>
          <p:cNvSpPr/>
          <p:nvPr/>
        </p:nvSpPr>
        <p:spPr>
          <a:xfrm>
            <a:off x="5897880" y="1691640"/>
            <a:ext cx="5167841" cy="355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3A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拟采用模型架构预览</a:t>
            </a:r>
            <a:endParaRPr lang="en-US" sz="1500" dirty="0"/>
          </a:p>
        </p:txBody>
      </p:sp>
      <p:pic>
        <p:nvPicPr>
          <p:cNvPr id="26" name="Image 0" descr="C:\Users\zxq\lab\data\school\ustc\课程\工程实践\drawio\roberta_arch.png"/>
          <p:cNvPicPr>
            <a:picLocks noChangeAspect="1"/>
          </p:cNvPicPr>
          <p:nvPr/>
        </p:nvPicPr>
        <p:blipFill>
          <a:blip r:embed="rId3"/>
          <a:srcRect r="6332"/>
          <a:stretch>
            <a:fillRect/>
          </a:stretch>
        </p:blipFill>
        <p:spPr>
          <a:xfrm>
            <a:off x="5749290" y="2111694"/>
            <a:ext cx="5406708" cy="3818499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具体方案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实施计划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3383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600200"/>
            <a:ext cx="64008" cy="182880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783080"/>
            <a:ext cx="411480" cy="411480"/>
          </a:xfrm>
          <a:prstGeom prst="line">
            <a:avLst/>
          </a:prstGeom>
          <a:solidFill>
            <a:srgbClr val="3A82F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1783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文献调研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查阅深度学习文本评分核心文献，梳理 ASAP 数据集与 BERT 实践经验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600200"/>
            <a:ext cx="3383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600200"/>
            <a:ext cx="64008" cy="182880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1783080"/>
            <a:ext cx="411480" cy="411480"/>
          </a:xfrm>
          <a:prstGeom prst="line">
            <a:avLst/>
          </a:prstGeom>
          <a:solidFill>
            <a:srgbClr val="2BAE9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1783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方案设计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 BERT 模型原理，确定微调方案，搭建系统架构，制定开发与测试计划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2440" y="1600200"/>
            <a:ext cx="3383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92440" y="1600200"/>
            <a:ext cx="64008" cy="18288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21" name="Shape 19"/>
          <p:cNvSpPr/>
          <p:nvPr/>
        </p:nvSpPr>
        <p:spPr>
          <a:xfrm>
            <a:off x="8275320" y="1783080"/>
            <a:ext cx="411480" cy="411480"/>
          </a:xfrm>
          <a:prstGeom prst="line">
            <a:avLst/>
          </a:prstGeom>
          <a:solidFill>
            <a:srgbClr val="F4C542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23960" y="1783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环境搭建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75320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端搭建开发环境，安装 Python、Hugging Face 等，下载并预处理数据集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3703320"/>
            <a:ext cx="3383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3703320"/>
            <a:ext cx="64008" cy="18288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27" name="Shape 25"/>
          <p:cNvSpPr/>
          <p:nvPr/>
        </p:nvSpPr>
        <p:spPr>
          <a:xfrm>
            <a:off x="868680" y="3886200"/>
            <a:ext cx="411480" cy="411480"/>
          </a:xfrm>
          <a:prstGeom prst="line">
            <a:avLst/>
          </a:prstGeom>
          <a:solidFill>
            <a:srgbClr val="113A67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17320" y="3886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A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模型开发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6868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Transformers 调用 BERT 模型，完成加载、数据适配、评分推理，调优微调参数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3703320"/>
            <a:ext cx="3383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89120" y="3703320"/>
            <a:ext cx="64008" cy="182880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3886200"/>
            <a:ext cx="411480" cy="411480"/>
          </a:xfrm>
          <a:prstGeom prst="line">
            <a:avLst/>
          </a:prstGeom>
          <a:solidFill>
            <a:srgbClr val="3A82F7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20640" y="3886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7200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前端 + Flask-RESTful 后端，实现上传、评分、展示的完整流程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92440" y="3703320"/>
            <a:ext cx="3383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92440" y="3703320"/>
            <a:ext cx="64008" cy="182880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39" name="Shape 37"/>
          <p:cNvSpPr/>
          <p:nvPr/>
        </p:nvSpPr>
        <p:spPr>
          <a:xfrm>
            <a:off x="8275320" y="3886200"/>
            <a:ext cx="411480" cy="411480"/>
          </a:xfrm>
          <a:prstGeom prst="line">
            <a:avLst/>
          </a:prstGeom>
          <a:solidFill>
            <a:srgbClr val="2BAE9B"/>
          </a:solidFill>
          <a:ln/>
        </p:spPr>
      </p:sp>
      <p:sp>
        <p:nvSpPr>
          <p:cNvPr id="40" name="Text 38"/>
          <p:cNvSpPr/>
          <p:nvPr/>
        </p:nvSpPr>
        <p:spPr>
          <a:xfrm>
            <a:off x="827532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823960" y="3886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测试与结题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27532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验证格式兼容性与评分准确性，撰写结题报告与技术文档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4709160" y="2560320"/>
            <a:ext cx="2743200" cy="36576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7432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预期成果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33832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600200"/>
            <a:ext cx="64008" cy="384048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1874520"/>
            <a:ext cx="548640" cy="54864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1874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自动评分系统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120" y="2697480"/>
            <a:ext cx="2834640" cy="18288"/>
          </a:xfrm>
          <a:prstGeom prst="rect">
            <a:avLst/>
          </a:prstGeom>
          <a:solidFill>
            <a:srgbClr val="D8E0E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88036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一套基于深度学习的文本作业自动评分系统，支持多种格式作业上传、自动评分、结果展示。评分精度 ≥ 0.8，响应时间 ≤ 3 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1600200"/>
            <a:ext cx="33832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1600200"/>
            <a:ext cx="64008" cy="384048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874520"/>
            <a:ext cx="548640" cy="54864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94960" y="1874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项目文档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2697480"/>
            <a:ext cx="2834640" cy="18288"/>
          </a:xfrm>
          <a:prstGeom prst="rect">
            <a:avLst/>
          </a:prstGeom>
          <a:solidFill>
            <a:srgbClr val="D8E0EA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88036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包括系统概要设计文档、小组项目等，形成完整的技术开发与说明资料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2440" y="1600200"/>
            <a:ext cx="33832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92440" y="1600200"/>
            <a:ext cx="64008" cy="384048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23" name="Shape 21"/>
          <p:cNvSpPr/>
          <p:nvPr/>
        </p:nvSpPr>
        <p:spPr>
          <a:xfrm>
            <a:off x="8366760" y="1874520"/>
            <a:ext cx="548640" cy="54864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98280" y="1874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代码资产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66760" y="2697480"/>
            <a:ext cx="2834640" cy="18288"/>
          </a:xfrm>
          <a:prstGeom prst="rect">
            <a:avLst/>
          </a:prstGeom>
          <a:solidFill>
            <a:srgbClr val="D8E0EA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288036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开源框架适配后的核心代码，可支持后续功能迭代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4251960" y="2743200"/>
            <a:ext cx="3657600" cy="36576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sz="48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！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 err="1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恳请批评指正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529</Words>
  <Application>Microsoft Office PowerPoint</Application>
  <PresentationFormat>自定义</PresentationFormat>
  <Paragraphs>153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享钦 张</cp:lastModifiedBy>
  <cp:revision>3</cp:revision>
  <dcterms:created xsi:type="dcterms:W3CDTF">2026-06-23T03:49:21Z</dcterms:created>
  <dcterms:modified xsi:type="dcterms:W3CDTF">2026-06-23T04:04:07Z</dcterms:modified>
</cp:coreProperties>
</file>