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86" r:id="rId4"/>
    <p:sldId id="258" r:id="rId5"/>
    <p:sldId id="281" r:id="rId6"/>
    <p:sldId id="288" r:id="rId7"/>
    <p:sldId id="260" r:id="rId8"/>
    <p:sldId id="280" r:id="rId9"/>
    <p:sldId id="259" r:id="rId10"/>
    <p:sldId id="289" r:id="rId11"/>
    <p:sldId id="282" r:id="rId12"/>
    <p:sldId id="283" r:id="rId13"/>
    <p:sldId id="293" r:id="rId14"/>
    <p:sldId id="285" r:id="rId15"/>
    <p:sldId id="264" r:id="rId16"/>
    <p:sldId id="265" r:id="rId17"/>
    <p:sldId id="290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91" r:id="rId26"/>
    <p:sldId id="273" r:id="rId27"/>
    <p:sldId id="274" r:id="rId28"/>
    <p:sldId id="275" r:id="rId29"/>
    <p:sldId id="276" r:id="rId30"/>
    <p:sldId id="292" r:id="rId31"/>
    <p:sldId id="284" r:id="rId32"/>
    <p:sldId id="277" r:id="rId33"/>
    <p:sldId id="278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3A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15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QWK</c:v>
                </c:pt>
              </c:strCache>
            </c:strRef>
          </c:tx>
          <c:spPr>
            <a:solidFill>
              <a:srgbClr val="113A6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Fold 1</c:v>
                </c:pt>
                <c:pt idx="1">
                  <c:v>Fold 2</c:v>
                </c:pt>
                <c:pt idx="2">
                  <c:v>Fold 3</c:v>
                </c:pt>
                <c:pt idx="3">
                  <c:v>Fold 4</c:v>
                </c:pt>
                <c:pt idx="4">
                  <c:v>Fold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0.7571</c:v>
                </c:pt>
                <c:pt idx="1">
                  <c:v>0.75849999999999995</c:v>
                </c:pt>
                <c:pt idx="2">
                  <c:v>0.73819999999999997</c:v>
                </c:pt>
                <c:pt idx="3">
                  <c:v>0.7198</c:v>
                </c:pt>
                <c:pt idx="4">
                  <c:v>0.73119999999999996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CD-497B-91F3-471858F14E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.6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7170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766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F4C542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77724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64008" cy="2560320"/>
          </a:xfrm>
          <a:prstGeom prst="rect">
            <a:avLst/>
          </a:prstGeom>
          <a:solidFill>
            <a:srgbClr val="7FB0E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37160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基于深度学习的文本作业自动评分系统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A82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结题答辩汇报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组别：5组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663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组员：张浩恩 / 张明哲 / 张享钦 / 赵柏杨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5120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</a:t>
            </a: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    指导教师：翟建芳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05840" y="1600200"/>
            <a:ext cx="31089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4440" y="1874520"/>
            <a:ext cx="685800" cy="457200"/>
          </a:xfrm>
          <a:prstGeom prst="rect">
            <a:avLst/>
          </a:prstGeom>
          <a:solidFill>
            <a:srgbClr val="FFF5D6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18745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62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03119" y="1874520"/>
            <a:ext cx="18429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选题背景与研究现状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2560320"/>
            <a:ext cx="2651760" cy="18288"/>
          </a:xfrm>
          <a:prstGeom prst="rect">
            <a:avLst/>
          </a:prstGeom>
          <a:solidFill>
            <a:srgbClr val="D8E0EA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1600200"/>
            <a:ext cx="31089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874520"/>
            <a:ext cx="685800" cy="457200"/>
          </a:xfrm>
          <a:prstGeom prst="rect">
            <a:avLst/>
          </a:prstGeom>
          <a:solidFill>
            <a:srgbClr val="FFF5D6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8745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62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23560" y="18745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6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数据集与需求分析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54880" y="2560320"/>
            <a:ext cx="2651760" cy="18288"/>
          </a:xfrm>
          <a:prstGeom prst="rect">
            <a:avLst/>
          </a:prstGeom>
          <a:solidFill>
            <a:srgbClr val="D8E0EA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0" y="1600200"/>
            <a:ext cx="31089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75320" y="1874520"/>
            <a:ext cx="685800" cy="457200"/>
          </a:xfrm>
          <a:prstGeom prst="rect">
            <a:avLst/>
          </a:prstGeom>
          <a:solidFill>
            <a:srgbClr val="FFF5D6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18745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62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0" y="18745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模型设计与训练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75320" y="2560320"/>
            <a:ext cx="2651760" cy="18288"/>
          </a:xfrm>
          <a:prstGeom prst="rect">
            <a:avLst/>
          </a:prstGeom>
          <a:solidFill>
            <a:srgbClr val="D8E0E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5840" y="3611880"/>
            <a:ext cx="31089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234440" y="3886200"/>
            <a:ext cx="685800" cy="457200"/>
          </a:xfrm>
          <a:prstGeom prst="rect">
            <a:avLst/>
          </a:prstGeom>
          <a:solidFill>
            <a:srgbClr val="FFF5D6"/>
          </a:solidFill>
          <a:ln/>
        </p:spPr>
      </p:sp>
      <p:sp>
        <p:nvSpPr>
          <p:cNvPr id="22" name="Text 20"/>
          <p:cNvSpPr/>
          <p:nvPr/>
        </p:nvSpPr>
        <p:spPr>
          <a:xfrm>
            <a:off x="1234440" y="38862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62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103120" y="3886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系统架构与实现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34440" y="4572000"/>
            <a:ext cx="2651760" cy="18288"/>
          </a:xfrm>
          <a:prstGeom prst="rect">
            <a:avLst/>
          </a:prstGeom>
          <a:solidFill>
            <a:srgbClr val="D8E0EA"/>
          </a:solidFill>
          <a:ln/>
        </p:spPr>
      </p:sp>
      <p:sp>
        <p:nvSpPr>
          <p:cNvPr id="25" name="Shape 23"/>
          <p:cNvSpPr/>
          <p:nvPr/>
        </p:nvSpPr>
        <p:spPr>
          <a:xfrm>
            <a:off x="4526280" y="3611880"/>
            <a:ext cx="31089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886200"/>
            <a:ext cx="685800" cy="457200"/>
          </a:xfrm>
          <a:prstGeom prst="rect">
            <a:avLst/>
          </a:prstGeom>
          <a:solidFill>
            <a:srgbClr val="FFF5D6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38862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62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623560" y="3886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系统演示与测试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754880" y="4572000"/>
            <a:ext cx="2651760" cy="18288"/>
          </a:xfrm>
          <a:prstGeom prst="rect">
            <a:avLst/>
          </a:prstGeom>
          <a:solidFill>
            <a:srgbClr val="D8E0EA"/>
          </a:solidFill>
          <a:ln/>
        </p:spPr>
      </p:sp>
      <p:sp>
        <p:nvSpPr>
          <p:cNvPr id="30" name="Shape 28"/>
          <p:cNvSpPr/>
          <p:nvPr/>
        </p:nvSpPr>
        <p:spPr>
          <a:xfrm>
            <a:off x="8046720" y="3611880"/>
            <a:ext cx="31089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75320" y="3886200"/>
            <a:ext cx="685800" cy="457200"/>
          </a:xfrm>
          <a:prstGeom prst="rect">
            <a:avLst/>
          </a:prstGeom>
          <a:solidFill>
            <a:srgbClr val="FFF5D6"/>
          </a:solidFill>
          <a:ln/>
        </p:spPr>
      </p:sp>
      <p:sp>
        <p:nvSpPr>
          <p:cNvPr id="32" name="Text 30"/>
          <p:cNvSpPr/>
          <p:nvPr/>
        </p:nvSpPr>
        <p:spPr>
          <a:xfrm>
            <a:off x="8275320" y="38862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62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144000" y="3886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75320" y="4572000"/>
            <a:ext cx="2651760" cy="18288"/>
          </a:xfrm>
          <a:prstGeom prst="rect">
            <a:avLst/>
          </a:prstGeom>
          <a:solidFill>
            <a:srgbClr val="D8E0EA"/>
          </a:solidFill>
          <a:ln/>
        </p:spPr>
      </p:sp>
      <p:sp>
        <p:nvSpPr>
          <p:cNvPr id="35" name="Text 33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4" name="Shape 2"/>
          <p:cNvSpPr/>
          <p:nvPr/>
        </p:nvSpPr>
        <p:spPr>
          <a:xfrm>
            <a:off x="4709160" y="2560320"/>
            <a:ext cx="2743200" cy="36576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74320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4C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选题背景与研究现状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选题背景与研究现状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为什么要做文本作业自动评分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14400" y="1797195"/>
            <a:ext cx="493776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797195"/>
            <a:ext cx="64008" cy="3474720"/>
          </a:xfrm>
          <a:prstGeom prst="rect">
            <a:avLst/>
          </a:prstGeom>
          <a:solidFill>
            <a:srgbClr val="3A82F7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980075"/>
            <a:ext cx="1463040" cy="365760"/>
          </a:xfrm>
          <a:prstGeom prst="rect">
            <a:avLst/>
          </a:prstGeom>
          <a:solidFill>
            <a:srgbClr val="E9F1FD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980075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82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现实痛点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528715"/>
            <a:ext cx="4297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人工阅卷效率低，大规模考试耗时耗力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主观评分一致性不足，不同阅卷人差异明显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反馈停留在“给分”层面，缺乏可解释性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797195"/>
            <a:ext cx="493776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797195"/>
            <a:ext cx="64008" cy="3474720"/>
          </a:xfrm>
          <a:prstGeom prst="rect">
            <a:avLst/>
          </a:prstGeom>
          <a:solidFill>
            <a:srgbClr val="2BAE9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0" y="1980075"/>
            <a:ext cx="1463040" cy="365760"/>
          </a:xfrm>
          <a:prstGeom prst="rect">
            <a:avLst/>
          </a:prstGeom>
          <a:solidFill>
            <a:srgbClr val="E8F7F4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980075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AE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2528715"/>
            <a:ext cx="4328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聚焦纯文本作业，用深度学习实现“语义理解—自动评分—基础反馈”闭环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基于预训练语言模型 RoBERTa，捕捉深层语义特征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三个核心目标：高效给分、保证一致性、给出反馈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选题背景与研究现状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960120"/>
            <a:ext cx="49377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960120"/>
            <a:ext cx="64008" cy="320040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051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传统方法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1508760"/>
            <a:ext cx="4480560" cy="548640"/>
          </a:xfrm>
          <a:prstGeom prst="rect">
            <a:avLst/>
          </a:prstGeom>
          <a:solidFill>
            <a:srgbClr val="FDECEA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5270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e-rater (ETS)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178308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人工设计特征（词汇、句法、组织）+ 线性回归，特征工程成本高，泛化性差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" y="2148840"/>
            <a:ext cx="4480560" cy="548640"/>
          </a:xfrm>
          <a:prstGeom prst="rect">
            <a:avLst/>
          </a:prstGeom>
          <a:solidFill>
            <a:srgbClr val="FDECEA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1671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LSA / IEA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4231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潜在语义分析，仅捕捉词级相似度，无法理解深层语义关系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05840" y="2788920"/>
            <a:ext cx="4480560" cy="548640"/>
          </a:xfrm>
          <a:prstGeom prst="rect">
            <a:avLst/>
          </a:prstGeom>
          <a:solidFill>
            <a:srgbClr val="FDECEA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28072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 / LSTM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06324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深度学习早期方案，局部卷积/序列建模，长距离依赖捕捉困难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3429000"/>
            <a:ext cx="4480560" cy="548640"/>
          </a:xfrm>
          <a:prstGeom prst="rect">
            <a:avLst/>
          </a:prstGeom>
          <a:solidFill>
            <a:srgbClr val="FDECEA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4472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手工特征工程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7033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需大量人工设计特征，依赖领域专家，难以规模化扩展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89320" y="960120"/>
            <a:ext cx="5256612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89320" y="960120"/>
            <a:ext cx="64008" cy="3200400"/>
          </a:xfrm>
          <a:prstGeom prst="rect">
            <a:avLst/>
          </a:prstGeom>
          <a:solidFill>
            <a:srgbClr val="2BAE9B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1051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AE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本项目：RoBERTa + MLP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63640" y="1508760"/>
            <a:ext cx="5212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自动提取深层语义特征，无需手工设计特征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12层 Transformer 自注意力机制，捕捉全局上下文依赖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Frozen Encoder 避免小数据集过拟合，训练效率高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QWK=0.7585，达到人工评分员一致性水平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929697"/>
              </p:ext>
            </p:extLst>
          </p:nvPr>
        </p:nvGraphicFramePr>
        <p:xfrm>
          <a:off x="850985" y="4465319"/>
          <a:ext cx="10404685" cy="1569720"/>
        </p:xfrm>
        <a:graphic>
          <a:graphicData uri="http://schemas.openxmlformats.org/drawingml/2006/table">
            <a:tbl>
              <a:tblPr/>
              <a:tblGrid>
                <a:gridCol w="2167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1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5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传统方法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本项目方法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特征提取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人工设计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AE9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自动学习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语义理解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浅层/词级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AE9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深层上下文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泛化能力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弱，需重新设计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AE9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强，预训练迁移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训练效率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AE9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 (Frozen)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QWK 指标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0.50–0.70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BAE9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0.72–0.76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11595185" y="5666470"/>
            <a:ext cx="346822" cy="222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4" name="Shape 2"/>
          <p:cNvSpPr/>
          <p:nvPr/>
        </p:nvSpPr>
        <p:spPr>
          <a:xfrm>
            <a:off x="4709160" y="2560320"/>
            <a:ext cx="2743200" cy="36576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74320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4C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数据集与需求分析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</a:t>
            </a:r>
            <a:r>
              <a:rPr lang="en-US" altLang="zh-CN" sz="20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数据集与需求分析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ASAP 数据集概览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ASAP (Automated Student Assessment Prize) 是 Kaggle 竞赛数据集，包含 8 个作文任务的约 24,000 篇学生作文及人工评分。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204752"/>
              </p:ext>
            </p:extLst>
          </p:nvPr>
        </p:nvGraphicFramePr>
        <p:xfrm>
          <a:off x="868680" y="2212848"/>
          <a:ext cx="5486400" cy="2907792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题目组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分数范围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描述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Set 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1,783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2–12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叙事性作文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Set 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1,800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1–6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议论性作文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Set 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1,726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0–3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科学类回答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Set 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1,772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0–3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文学类回答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Set 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1,805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0–4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个人叙述作文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Set 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1,800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0–4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议论/说明性作文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Set 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1,802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0–30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综合性论文评分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Set 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0–60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英语语言能力评估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8" name="Image 0" descr="C:\Users\zxq\.qoderworkcn\workspace\mqezlwzdh6d920ae\uploads\image_1781528059790_4wc6lw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5029200" cy="21945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92240" y="4343400"/>
            <a:ext cx="48920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675120" y="43434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3A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24,000+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8412480" y="4343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学生作文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92240" y="5029200"/>
            <a:ext cx="48920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675120" y="50292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3A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8412480" y="5029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作文任务组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492240" y="5715000"/>
            <a:ext cx="48920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675120" y="57150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3A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8412480" y="57150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人工评分员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1292840" y="6263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数据集与需求分析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ASAP 数据集分析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2074" y="1417320"/>
            <a:ext cx="4137660" cy="3681351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2074" y="1417320"/>
            <a:ext cx="57928" cy="3681351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8" name="Text 6"/>
          <p:cNvSpPr/>
          <p:nvPr/>
        </p:nvSpPr>
        <p:spPr>
          <a:xfrm>
            <a:off x="820674" y="1490473"/>
            <a:ext cx="3723894" cy="310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3A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数据集字段说明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079004"/>
              </p:ext>
            </p:extLst>
          </p:nvPr>
        </p:nvGraphicFramePr>
        <p:xfrm>
          <a:off x="729234" y="1892808"/>
          <a:ext cx="3889400" cy="3149597"/>
        </p:xfrm>
        <a:graphic>
          <a:graphicData uri="http://schemas.openxmlformats.org/drawingml/2006/table">
            <a:tbl>
              <a:tblPr/>
              <a:tblGrid>
                <a:gridCol w="1406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2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32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6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A82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essay_id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作文唯一标识符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6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A82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essay_set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题目组编号 (1–8)，代表不同作文任务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6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A82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essay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学生作文原文，经脱敏处理（人名/地名替换为标签）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26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A82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rater1/2/3_domain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多位评分员对领域的独立评分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26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 err="1">
                          <a:solidFill>
                            <a:srgbClr val="3A82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domain_score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领域的总分（评分员分数之和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03504" y="5457569"/>
            <a:ext cx="4137660" cy="531751"/>
          </a:xfrm>
          <a:prstGeom prst="rect">
            <a:avLst/>
          </a:prstGeom>
          <a:solidFill>
            <a:srgbClr val="E8F7F4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40664" y="5503289"/>
            <a:ext cx="3889400" cy="449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AE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总计：12,976 篇作文  |  8 </a:t>
            </a:r>
            <a:r>
              <a:rPr lang="en-US" sz="1100" b="1" dirty="0" err="1">
                <a:solidFill>
                  <a:srgbClr val="2BAE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个题目组</a:t>
            </a:r>
            <a:r>
              <a:rPr lang="en-US" sz="1100" b="1" dirty="0">
                <a:solidFill>
                  <a:srgbClr val="2BAE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|  分数范围 0–60</a:t>
            </a:r>
            <a:endParaRPr lang="en-US" sz="1100" dirty="0"/>
          </a:p>
        </p:txBody>
      </p:sp>
      <p:pic>
        <p:nvPicPr>
          <p:cNvPr id="12" name="Image 0" descr="C:\Users\zxq\lab\data\school\ustc\课程\工程实践\data_analysis\score_distribu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66894" y="1394460"/>
            <a:ext cx="3305408" cy="2240280"/>
          </a:xfrm>
          <a:prstGeom prst="rect">
            <a:avLst/>
          </a:prstGeom>
        </p:spPr>
      </p:pic>
      <p:pic>
        <p:nvPicPr>
          <p:cNvPr id="13" name="Image 1" descr="C:\Users\zxq\lab\data\school\ustc\课程\工程实践\data_analysis\text_length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72302" y="1394460"/>
            <a:ext cx="3427624" cy="2240280"/>
          </a:xfrm>
          <a:prstGeom prst="rect">
            <a:avLst/>
          </a:prstGeom>
        </p:spPr>
      </p:pic>
      <p:pic>
        <p:nvPicPr>
          <p:cNvPr id="14" name="Image 2" descr="C:\Users\zxq\lab\data\school\ustc\课程\工程实践\data_analysis\class_proportion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66894" y="3641663"/>
            <a:ext cx="3302492" cy="2455034"/>
          </a:xfrm>
          <a:prstGeom prst="rect">
            <a:avLst/>
          </a:prstGeom>
        </p:spPr>
      </p:pic>
      <p:pic>
        <p:nvPicPr>
          <p:cNvPr id="15" name="Image 3" descr="C:\Users\zxq\lab\data\school\ustc\课程\工程实践\data_analysis\split_ratio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69386" y="3641663"/>
            <a:ext cx="3430540" cy="24550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</a:t>
            </a:r>
            <a:r>
              <a:rPr lang="en-US" altLang="zh-CN" sz="20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数据集与需求分析</a:t>
            </a:r>
            <a:endParaRPr lang="en-US" altLang="zh-CN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用例图与需求分析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6696329" y="1556628"/>
            <a:ext cx="45720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696329" y="1556628"/>
            <a:ext cx="64008" cy="1737360"/>
          </a:xfrm>
          <a:prstGeom prst="rect">
            <a:avLst/>
          </a:prstGeom>
          <a:solidFill>
            <a:srgbClr val="3A82F7"/>
          </a:solidFill>
          <a:ln/>
        </p:spPr>
      </p:sp>
      <p:sp>
        <p:nvSpPr>
          <p:cNvPr id="9" name="Text 6"/>
          <p:cNvSpPr/>
          <p:nvPr/>
        </p:nvSpPr>
        <p:spPr>
          <a:xfrm>
            <a:off x="6970649" y="16480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82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功能性需求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970649" y="2059548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单篇作文评分：选择题目→输入文本→返回评分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批量评分：上传 CSV 文件→逐篇评分并展示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历史记录：查询/筛选/导出/删除评分历史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文本分析：字数/句数/词汇多样性/词频统计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96329" y="3614028"/>
            <a:ext cx="45720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96329" y="3614028"/>
            <a:ext cx="64008" cy="1783080"/>
          </a:xfrm>
          <a:prstGeom prst="rect">
            <a:avLst/>
          </a:prstGeom>
          <a:solidFill>
            <a:srgbClr val="2BAE9B"/>
          </a:solidFill>
          <a:ln/>
        </p:spPr>
      </p:sp>
      <p:sp>
        <p:nvSpPr>
          <p:cNvPr id="13" name="Text 10"/>
          <p:cNvSpPr/>
          <p:nvPr/>
        </p:nvSpPr>
        <p:spPr>
          <a:xfrm>
            <a:off x="6970649" y="37054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AE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非功能性需求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970649" y="4116948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评分一致性：QWK 达到人工评分员水平 (0.70+)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响应时间：单篇评分 &lt; 3秒，批量 &lt; 30秒/100篇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可用性：Web UI 简洁直观，支持多题型选择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可扩展性：RESTful API 支持第三方集成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86477" y="5623560"/>
            <a:ext cx="742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参与者：学生（提交作文） / 教师（查看评分、导出数据） / 管理员（数据集管理、模型训练）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32BB239-4325-E2C1-8C1D-BD49F0A61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366" y="1646894"/>
            <a:ext cx="5282692" cy="334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80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4" name="Shape 2"/>
          <p:cNvSpPr/>
          <p:nvPr/>
        </p:nvSpPr>
        <p:spPr>
          <a:xfrm>
            <a:off x="4709160" y="2560320"/>
            <a:ext cx="2743200" cy="36576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74320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4C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模型设计与训练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模型设计与训练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关键技术：</a:t>
            </a:r>
            <a:r>
              <a:rPr lang="en-US" sz="26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RoBERTa</a:t>
            </a: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模型架构与分析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6471572" y="2434441"/>
            <a:ext cx="4869598" cy="2220686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71571" y="2434441"/>
            <a:ext cx="79273" cy="2220686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9" name="Text 6"/>
          <p:cNvSpPr/>
          <p:nvPr/>
        </p:nvSpPr>
        <p:spPr>
          <a:xfrm>
            <a:off x="6700172" y="2525881"/>
            <a:ext cx="4303366" cy="161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3A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RoBERTa 特点分析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700172" y="2983081"/>
            <a:ext cx="4303366" cy="181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Transformer Encoder-only 架构，仅使用编码器部分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层 Transformer 块，每层包含多头自注意力 + FFN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个注意力头，隐层维度 768，总参数约 125M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 BPE (Byte-Pair Encoding) 分词，词表大小 50,265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相比 BERT：去除 NSP、更大 batch、更多数据、更长训练</a:t>
            </a:r>
            <a:endParaRPr lang="en-US" sz="12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F683D70-C7B6-8F2C-612F-8E09AEDCB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441" y="1371600"/>
            <a:ext cx="5069930" cy="42138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模型设计与训练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关键技术：</a:t>
            </a: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Mean Pooling 与 MLP 回归器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066412" y="1417320"/>
            <a:ext cx="39319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066412" y="1417320"/>
            <a:ext cx="64008" cy="2286000"/>
          </a:xfrm>
          <a:prstGeom prst="rect">
            <a:avLst/>
          </a:prstGeom>
          <a:solidFill>
            <a:srgbClr val="3A82F7"/>
          </a:solidFill>
          <a:ln/>
        </p:spPr>
      </p:sp>
      <p:sp>
        <p:nvSpPr>
          <p:cNvPr id="9" name="Text 6"/>
          <p:cNvSpPr/>
          <p:nvPr/>
        </p:nvSpPr>
        <p:spPr>
          <a:xfrm>
            <a:off x="7295012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A82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Mean Pooling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295012" y="18745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Mean Pooling 将 Transformer 输出的 n 个 token 的 hidden state 向量取均值，得到一个 768 维的固定长度句子表示。相比 [CLS] token，能更充分利用所有 token 的信息，对长短文本都更鲁棒。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066412" y="3931920"/>
            <a:ext cx="393192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066412" y="3931920"/>
            <a:ext cx="64008" cy="2514600"/>
          </a:xfrm>
          <a:prstGeom prst="rect">
            <a:avLst/>
          </a:prstGeom>
          <a:solidFill>
            <a:srgbClr val="2BAE9B"/>
          </a:solidFill>
          <a:ln/>
        </p:spPr>
      </p:sp>
      <p:sp>
        <p:nvSpPr>
          <p:cNvPr id="13" name="Text 10"/>
          <p:cNvSpPr/>
          <p:nvPr/>
        </p:nvSpPr>
        <p:spPr>
          <a:xfrm>
            <a:off x="7295012" y="4023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AE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MLP 回归器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295012" y="43891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多层感知器用于回归任务，将 768 维句子向量逐层压缩为标量分数。ReLU 提供非线性变换，Dropout(0.3) 防止过拟合。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295012" y="5349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3A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768 → 256 → 96 → 1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295012" y="5669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162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ReLU + Dropout(0.3)</a:t>
            </a:r>
            <a:endParaRPr lang="en-US" sz="1100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88DB9EF-DAC3-C0A1-79A0-361F067F2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814" y="1634049"/>
            <a:ext cx="5223708" cy="38627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4" name="Shape 2"/>
          <p:cNvSpPr/>
          <p:nvPr/>
        </p:nvSpPr>
        <p:spPr>
          <a:xfrm>
            <a:off x="488076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模型设计与训练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zh-CN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模型训练与推理全流程</a:t>
            </a:r>
            <a:endParaRPr lang="en-US" sz="2600" b="1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68680" y="5143500"/>
            <a:ext cx="32918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5143500"/>
            <a:ext cx="64008" cy="960120"/>
          </a:xfrm>
          <a:prstGeom prst="rect">
            <a:avLst/>
          </a:prstGeom>
          <a:solidFill>
            <a:srgbClr val="3A82F7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51892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82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Tokenizer + RoBERTa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1560" y="55092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BPE 分词 + padding/truncation，RoBERTa frozen encoder 提取深层语义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434840" y="5143500"/>
            <a:ext cx="32918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34840" y="5143500"/>
            <a:ext cx="64008" cy="96012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14" name="Text 11"/>
          <p:cNvSpPr/>
          <p:nvPr/>
        </p:nvSpPr>
        <p:spPr>
          <a:xfrm>
            <a:off x="4663440" y="51892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3A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Mean Pooling + Scaler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617720" y="55092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取所有 token 均值得到 768 维向量，按 essay set 独立标准化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001000" y="5143500"/>
            <a:ext cx="32918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001000" y="5143500"/>
            <a:ext cx="64008" cy="960120"/>
          </a:xfrm>
          <a:prstGeom prst="rect">
            <a:avLst/>
          </a:prstGeom>
          <a:solidFill>
            <a:srgbClr val="2BAE9B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0" y="51892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AE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两阶段训练策略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183880" y="55092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Frozen Encoder + 轻量 MLP，避免过拟合，训练只需几分钟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8808811C-7C81-FE47-3BA7-521BEC1C5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115" y="1417320"/>
            <a:ext cx="8650562" cy="325863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模型设计与训练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评测公式：Quadratic Weighted Kappa (QWK)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51560" y="1531620"/>
            <a:ext cx="100584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531620"/>
            <a:ext cx="64008" cy="41148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559052"/>
            <a:ext cx="9509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QWK 是衡量评分者间一致性的标准指标，综合考虑了评分偏差的严重程度，特别适合有序分类/回归任务。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51560" y="2034540"/>
            <a:ext cx="10058400" cy="1280160"/>
          </a:xfrm>
          <a:prstGeom prst="rect">
            <a:avLst/>
          </a:prstGeom>
          <a:solidFill>
            <a:srgbClr val="E9F1FD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061972"/>
            <a:ext cx="9509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3A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QWK 计算公式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051560" y="3497580"/>
            <a:ext cx="48920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051560" y="3497580"/>
            <a:ext cx="4892040" cy="320040"/>
          </a:xfrm>
          <a:prstGeom prst="rect">
            <a:avLst/>
          </a:prstGeom>
          <a:solidFill>
            <a:srgbClr val="3A82F7"/>
          </a:solidFill>
          <a:ln/>
        </p:spPr>
      </p:sp>
      <p:sp>
        <p:nvSpPr>
          <p:cNvPr id="14" name="Text 11"/>
          <p:cNvSpPr/>
          <p:nvPr/>
        </p:nvSpPr>
        <p:spPr>
          <a:xfrm>
            <a:off x="1234440" y="349758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 矩阵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234440" y="3845052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模型分数与人工分数形成的实际混淆矩阵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17920" y="3497580"/>
            <a:ext cx="48920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17920" y="3497580"/>
            <a:ext cx="4892040" cy="320040"/>
          </a:xfrm>
          <a:prstGeom prst="rect">
            <a:avLst/>
          </a:prstGeom>
          <a:solidFill>
            <a:srgbClr val="2BAE9B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0" y="349758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矩阵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0" y="3845052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在随机一致性假设下的期望混淆矩阵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51560" y="4503420"/>
            <a:ext cx="48920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051560" y="4503420"/>
            <a:ext cx="4892040" cy="32004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22" name="Text 19"/>
          <p:cNvSpPr/>
          <p:nvPr/>
        </p:nvSpPr>
        <p:spPr>
          <a:xfrm>
            <a:off x="1234440" y="450342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 权重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234440" y="4850892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预测分数离人工分数越远，惩罚越大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217920" y="4503420"/>
            <a:ext cx="48920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217920" y="4503420"/>
            <a:ext cx="4892040" cy="32004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0" y="450342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κ 取值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400800" y="4850892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越接近 1 表示与人工评分越一致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051560" y="5554980"/>
            <a:ext cx="100584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1051560" y="5554980"/>
            <a:ext cx="64008" cy="41148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30" name="Text 27"/>
          <p:cNvSpPr/>
          <p:nvPr/>
        </p:nvSpPr>
        <p:spPr>
          <a:xfrm>
            <a:off x="1325880" y="5582412"/>
            <a:ext cx="9509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QWK 适合作文评分：它不仅看预测是否完全相等，也会根据分数距离给予不同惩罚</a:t>
            </a:r>
            <a:endParaRPr lang="en-US" sz="1200" dirty="0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6D6AA852-BFA9-2048-6A1A-F1383DF7B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1770" y="2376599"/>
            <a:ext cx="6134100" cy="6667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模型设计与训练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训练配置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234440" y="1542012"/>
            <a:ext cx="4846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17320" y="154201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损失函数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37560" y="154201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MSELoss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234440" y="2410692"/>
            <a:ext cx="4846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17320" y="241069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241069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Adam, lr=3e-4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34440" y="3279372"/>
            <a:ext cx="4846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17320" y="327937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训练轮数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327937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epochs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1542012"/>
            <a:ext cx="4846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55080" y="154201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交叉验证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42974" y="1542012"/>
            <a:ext cx="31755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5-fold (random_state=2022)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200" y="2410692"/>
            <a:ext cx="4846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55080" y="241069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评价指标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42974" y="2410692"/>
            <a:ext cx="31755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QWK (Quadratic Weighted Kappa)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72200" y="3279372"/>
            <a:ext cx="4846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55080" y="327937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842974" y="3279372"/>
            <a:ext cx="31755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CUDA (GPU) / CPU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234440" y="4493029"/>
            <a:ext cx="10058400" cy="1404851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234440" y="4493029"/>
            <a:ext cx="64008" cy="1404852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26" name="Text 24"/>
          <p:cNvSpPr/>
          <p:nvPr/>
        </p:nvSpPr>
        <p:spPr>
          <a:xfrm>
            <a:off x="1554480" y="45720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54480" y="4617721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训练速度快：RoBERTa 只做前向传播，嵌入预计算一次，MLP 训练只需几分钟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避免过拟合：小数据集微调大模型容易过拟合，frozen encoder 保留通用语义表示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Mean Pooling 简单有效：将序列输出压缩为固定维度，且对长短文本都鲁棒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模型设计与训练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模型评估结果：5-Fold 交叉验证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655688"/>
              </p:ext>
            </p:extLst>
          </p:nvPr>
        </p:nvGraphicFramePr>
        <p:xfrm>
          <a:off x="960120" y="1410263"/>
          <a:ext cx="4114800" cy="2212848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Fold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Best Epoch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Mean QWK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Fold 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0.7571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Fold 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BAE9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0.7585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Fold 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0.7382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Fold 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0.7198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Fold 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0.7312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2970128682"/>
              </p:ext>
            </p:extLst>
          </p:nvPr>
        </p:nvGraphicFramePr>
        <p:xfrm>
          <a:off x="1189742" y="3883132"/>
          <a:ext cx="32004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4"/>
          <p:cNvSpPr/>
          <p:nvPr/>
        </p:nvSpPr>
        <p:spPr>
          <a:xfrm>
            <a:off x="4580736" y="5257800"/>
            <a:ext cx="682164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5"/>
          <p:cNvSpPr/>
          <p:nvPr/>
        </p:nvSpPr>
        <p:spPr>
          <a:xfrm>
            <a:off x="4580736" y="5257800"/>
            <a:ext cx="46388" cy="731520"/>
          </a:xfrm>
          <a:prstGeom prst="rect">
            <a:avLst/>
          </a:prstGeom>
          <a:solidFill>
            <a:srgbClr val="2BAE9B"/>
          </a:solidFill>
          <a:ln/>
        </p:spPr>
      </p:sp>
      <p:sp>
        <p:nvSpPr>
          <p:cNvPr id="6" name="Text 6"/>
          <p:cNvSpPr/>
          <p:nvPr/>
        </p:nvSpPr>
        <p:spPr>
          <a:xfrm>
            <a:off x="4741064" y="5303520"/>
            <a:ext cx="658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QWK = 0.7585  |  人工评分员间一致性 QWK 约 0.70–0.80，模型达到可比水平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4900776" y="5623560"/>
            <a:ext cx="6423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蓝色为真实分数分布，橙色为模型预测分数分布，两者分布趋势基本一致</a:t>
            </a:r>
            <a:endParaRPr lang="en-US" sz="1200" dirty="0"/>
          </a:p>
        </p:txBody>
      </p:sp>
      <p:pic>
        <p:nvPicPr>
          <p:cNvPr id="14" name="Image 0" descr="C:\Users\zxq\.qoderworkcn\workspace\mqezlwzdh6d920ae\uploads\image_1781528059790_s5fq8nu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56220" y="1791186"/>
            <a:ext cx="5475660" cy="26889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4" name="Shape 2"/>
          <p:cNvSpPr/>
          <p:nvPr/>
        </p:nvSpPr>
        <p:spPr>
          <a:xfrm>
            <a:off x="4709160" y="2560320"/>
            <a:ext cx="2743200" cy="36576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74320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4C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系统架构与实现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系统架构与实现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系统总体架构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97280" y="1508760"/>
            <a:ext cx="22860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1508760"/>
            <a:ext cx="2286000" cy="73152"/>
          </a:xfrm>
          <a:prstGeom prst="rect">
            <a:avLst/>
          </a:prstGeom>
          <a:solidFill>
            <a:srgbClr val="3A82F7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169164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前端展示层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325880" y="2240280"/>
            <a:ext cx="1828800" cy="365760"/>
          </a:xfrm>
          <a:prstGeom prst="rect">
            <a:avLst/>
          </a:prstGeom>
          <a:solidFill>
            <a:srgbClr val="E9F1FD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82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07008" y="2788920"/>
            <a:ext cx="20665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单文件 SPA，侧边栏导航，三页面（单篇评分/批量评分/历史记录）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3154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C542"/>
                </a:solidFill>
              </a:rPr>
              <a:t>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0" y="1508760"/>
            <a:ext cx="22860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0" y="1508760"/>
            <a:ext cx="2286000" cy="73152"/>
          </a:xfrm>
          <a:prstGeom prst="rect">
            <a:avLst/>
          </a:prstGeom>
          <a:solidFill>
            <a:srgbClr val="2BAE9B"/>
          </a:solidFill>
          <a:ln/>
        </p:spPr>
      </p:sp>
      <p:sp>
        <p:nvSpPr>
          <p:cNvPr id="15" name="Text 13"/>
          <p:cNvSpPr/>
          <p:nvPr/>
        </p:nvSpPr>
        <p:spPr>
          <a:xfrm>
            <a:off x="3767328" y="169164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后端服务层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86200" y="2240280"/>
            <a:ext cx="1828800" cy="365760"/>
          </a:xfrm>
          <a:prstGeom prst="rect">
            <a:avLst/>
          </a:prstGeom>
          <a:solidFill>
            <a:srgbClr val="E9F1FD"/>
          </a:solidFill>
          <a:ln/>
        </p:spPr>
      </p:sp>
      <p:sp>
        <p:nvSpPr>
          <p:cNvPr id="17" name="Text 15"/>
          <p:cNvSpPr/>
          <p:nvPr/>
        </p:nvSpPr>
        <p:spPr>
          <a:xfrm>
            <a:off x="388620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82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Flask + RESTful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67328" y="2788920"/>
            <a:ext cx="20665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RESTful API，6 个接口，支持单篇/批量评分、历史查询/删除/导出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0" y="3154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C542"/>
                </a:solidFill>
              </a:rPr>
              <a:t>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1508760"/>
            <a:ext cx="22860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508760"/>
            <a:ext cx="2286000" cy="73152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22" name="Text 20"/>
          <p:cNvSpPr/>
          <p:nvPr/>
        </p:nvSpPr>
        <p:spPr>
          <a:xfrm>
            <a:off x="6327648" y="169164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模型推理层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46520" y="2240280"/>
            <a:ext cx="1828800" cy="365760"/>
          </a:xfrm>
          <a:prstGeom prst="rect">
            <a:avLst/>
          </a:prstGeom>
          <a:solidFill>
            <a:srgbClr val="E9F1FD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82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PyTorch + HF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27648" y="2788920"/>
            <a:ext cx="20665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RoBERTa 编码 + MLP 预测，加载 best_fold_model.pt 服务化推理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03920" y="3154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C542"/>
                </a:solidFill>
              </a:rPr>
              <a:t>▶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778240" y="1508760"/>
            <a:ext cx="22860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778240" y="1508760"/>
            <a:ext cx="2286000" cy="73152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29" name="Text 27"/>
          <p:cNvSpPr/>
          <p:nvPr/>
        </p:nvSpPr>
        <p:spPr>
          <a:xfrm>
            <a:off x="8887968" y="169164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数据存储层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006840" y="2240280"/>
            <a:ext cx="1828800" cy="365760"/>
          </a:xfrm>
          <a:prstGeom prst="rect">
            <a:avLst/>
          </a:prstGeom>
          <a:solidFill>
            <a:srgbClr val="E9F1FD"/>
          </a:solidFill>
          <a:ln/>
        </p:spPr>
      </p:sp>
      <p:sp>
        <p:nvSpPr>
          <p:cNvPr id="31" name="Text 29"/>
          <p:cNvSpPr/>
          <p:nvPr/>
        </p:nvSpPr>
        <p:spPr>
          <a:xfrm>
            <a:off x="900684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82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887968" y="2788920"/>
            <a:ext cx="20665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双表结构（submissions + records），支持分页、筛选、级联删除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系统架构与实现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前端技术：Streamlit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51560" y="1508760"/>
            <a:ext cx="48463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508760"/>
            <a:ext cx="64008" cy="1828800"/>
          </a:xfrm>
          <a:prstGeom prst="rect">
            <a:avLst/>
          </a:prstGeom>
          <a:solidFill>
            <a:srgbClr val="3A82F7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645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框架特点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103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原生响应式 UI 框架，无需前端构建工具，单文件即可运行完整 Web 应用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1508760"/>
            <a:ext cx="48463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1508760"/>
            <a:ext cx="64008" cy="1828800"/>
          </a:xfrm>
          <a:prstGeom prst="rect">
            <a:avLst/>
          </a:prstGeom>
          <a:solidFill>
            <a:srgbClr val="2BAE9B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645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页面结构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103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侧边栏导航三页面：单篇评分、批量评分、历史记录，通过 st.session_state 管理状态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51560" y="3794760"/>
            <a:ext cx="48463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51560" y="3794760"/>
            <a:ext cx="64008" cy="18288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3931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数据可视化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4389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 matplotlib 绘制词频柱状图，用 st.columns 自定义表格布局，支持分页与筛选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55080" y="3794760"/>
            <a:ext cx="48463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3794760"/>
            <a:ext cx="64008" cy="182880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3931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自定义样式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29400" y="4389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st.markdown(unsafe_allow_html=True) 注入 CSS，美化侧边栏、按钮颜色、表格对齐等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系统架构与实现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接口设计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60120" y="13716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后端基于 Flask 3.0 + Flask-RESTful 构建，采用工厂模式 create_app() 初始化。每篇作文自动生成文本分析：字数、句数、词汇多样性 (TTR)、Top-10 高频词。上传 CSV 自动归档至 uploads/ 目录。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74520" y="2011680"/>
          <a:ext cx="8229600" cy="268833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Method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Path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描述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A82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/api/health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健康检查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AE9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/api/score/text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单篇评分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AE9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/api/score/file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批量 CSV 评分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A82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/api/history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查询历史记录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A82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/api/history/&lt;id&gt;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获取详情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C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/api/history/&lt;id&gt;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删除记录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系统架构与实现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数据存储：SQLite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51560" y="1508760"/>
            <a:ext cx="48463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508760"/>
            <a:ext cx="64008" cy="1828800"/>
          </a:xfrm>
          <a:prstGeom prst="rect">
            <a:avLst/>
          </a:prstGeom>
          <a:solidFill>
            <a:srgbClr val="3A82F7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645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选型理由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103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轻量级嵌入式数据库，无需独立服务，单文件存储，适合本项目规模。通过 Python 内置 sqlite3 模块直接操作。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508760"/>
            <a:ext cx="48463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1508760"/>
            <a:ext cx="64008" cy="1828800"/>
          </a:xfrm>
          <a:prstGeom prst="rect">
            <a:avLst/>
          </a:prstGeom>
          <a:solidFill>
            <a:srgbClr val="2BAE9B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645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表结构设计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103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submissions 表：id, source_type, filename, default_essay_set, item_count, created_at；records 表：id, submission_id(FK), row_no, essay_set, score, scaled_score, essay_text, preview, analysis_json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51560" y="3794760"/>
            <a:ext cx="48463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51560" y="3794760"/>
            <a:ext cx="64008" cy="18288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3931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4389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支持分页查询 (LIMIT/OFFSET)、多条件筛选 (essay_set, source_type)、级联删除、按 ID 查询详情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3794760"/>
            <a:ext cx="48463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3794760"/>
            <a:ext cx="64008" cy="182880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3931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数据完整性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29400" y="4389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外键约束保证 submissions 与 records 一致性，删除时自动级联清理关联记录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系统架构与实现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分解视图：模块分解图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653147" y="4253445"/>
            <a:ext cx="8402303" cy="1857054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653147" y="4253445"/>
            <a:ext cx="168046" cy="1857054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9" name="Text 6"/>
          <p:cNvSpPr/>
          <p:nvPr/>
        </p:nvSpPr>
        <p:spPr>
          <a:xfrm>
            <a:off x="1881747" y="4344884"/>
            <a:ext cx="7367262" cy="17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3A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模块分解说明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881747" y="4802084"/>
            <a:ext cx="8173704" cy="117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前端展示层：Streamlit 单文件 SPA，三页面结构（单篇/批量/历史）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后端服务层：Flask-RESTful 提供 6 个 API 接口，负责评分、历史、分析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模型推理层：RoBERTa 编码 + MLP 回归，冻结编码器仅做前向传播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数据存储层：SQLite 双表（submissions + records），支持级联删除</a:t>
            </a:r>
            <a:endParaRPr lang="en-US" sz="13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D3152BC-AAFB-04BB-BF29-763FDF8FD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882" y="1567373"/>
            <a:ext cx="8720568" cy="246087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系统架构与实现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执行视图：执行流程图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406640" y="1417320"/>
            <a:ext cx="365760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06640" y="1417320"/>
            <a:ext cx="64008" cy="5029200"/>
          </a:xfrm>
          <a:prstGeom prst="rect">
            <a:avLst/>
          </a:prstGeom>
          <a:solidFill>
            <a:srgbClr val="2BAE9B"/>
          </a:solidFill>
          <a:ln/>
        </p:spPr>
      </p:sp>
      <p:sp>
        <p:nvSpPr>
          <p:cNvPr id="9" name="Text 6"/>
          <p:cNvSpPr/>
          <p:nvPr/>
        </p:nvSpPr>
        <p:spPr>
          <a:xfrm>
            <a:off x="763524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AE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执行流程说明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35240" y="1965960"/>
            <a:ext cx="3200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用户输入经 Streamlit 前端发送 HTTP 请求到 Flask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Flask 路由到对应 API，调用模型服务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Tokenizer 分词 → RoBERTa 编码 → Mean Pooling → 768维向量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MLP 回归输出原始分数，经 StandardScaler 反标准化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未知题目时遍历 8 组 Scaler 取均值，映射到 0-100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最终分数裁剪取整后存入 SQLite 并返回前端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7442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85CD320-13D9-41ED-15B4-2252138DD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32477"/>
            <a:ext cx="5618969" cy="454920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系统架构与实现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实现视图：源代码文件结构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905336" y="1323481"/>
            <a:ext cx="365760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905336" y="1323481"/>
            <a:ext cx="64008" cy="5029200"/>
          </a:xfrm>
          <a:prstGeom prst="rect">
            <a:avLst/>
          </a:prstGeom>
          <a:solidFill>
            <a:srgbClr val="3A82F7"/>
          </a:solidFill>
          <a:ln/>
        </p:spPr>
      </p:sp>
      <p:sp>
        <p:nvSpPr>
          <p:cNvPr id="9" name="Text 6"/>
          <p:cNvSpPr/>
          <p:nvPr/>
        </p:nvSpPr>
        <p:spPr>
          <a:xfrm>
            <a:off x="8133936" y="1414921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82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文件结构说明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33936" y="1872121"/>
            <a:ext cx="3200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app.py：Flask 应用入口，定义 6 个 Resource 类处理 API 请求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model_service.py：EssayScoringService 封装模型加载、编码、预测全流程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storage.py：HistoryStore 管理 SQLite 双表 CRUD 操作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streamlit_app.py：前端三页面 + 自定义 CSS 样式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aes.ipynb：训练脚本，5折交叉验证 + QWK 评估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best_fold_model.pt：最优折模型权重文件</a:t>
            </a:r>
            <a:endParaRPr lang="en-US" sz="12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90698AD-22CD-3619-3B46-4D4EFA410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64" y="1535456"/>
            <a:ext cx="7200073" cy="434370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4" name="Shape 2"/>
          <p:cNvSpPr/>
          <p:nvPr/>
        </p:nvSpPr>
        <p:spPr>
          <a:xfrm>
            <a:off x="4709160" y="2560320"/>
            <a:ext cx="2743200" cy="36576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74320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4C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系统演示与测试</a:t>
            </a:r>
            <a:endParaRPr lang="en-US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系统演示与测试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系统功能演示 — 单篇评分</a:t>
            </a:r>
            <a:endParaRPr lang="en-US" sz="2600" dirty="0"/>
          </a:p>
        </p:txBody>
      </p:sp>
      <p:pic>
        <p:nvPicPr>
          <p:cNvPr id="6" name="Image 0" descr="C:\Users\zxq\.qoderworkcn\workspace\mqezlwzdh6d920ae\uploads\image_1781528059790_bu7wysx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0120" y="1417320"/>
            <a:ext cx="102412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系统演示与测试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系统功能演示 — 批量评分</a:t>
            </a:r>
            <a:endParaRPr lang="en-US" sz="2600" dirty="0"/>
          </a:p>
        </p:txBody>
      </p:sp>
      <p:pic>
        <p:nvPicPr>
          <p:cNvPr id="6" name="Image 0" descr="C:\Users\zxq\.qoderworkcn\workspace\mqezlwzdh6d920ae\uploads\image_1781528059790_pdmzq1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0120" y="1417320"/>
            <a:ext cx="102412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系统演示与测试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系统功能演示 — 历史记录</a:t>
            </a:r>
            <a:endParaRPr lang="en-US" sz="2600" dirty="0"/>
          </a:p>
        </p:txBody>
      </p:sp>
      <p:pic>
        <p:nvPicPr>
          <p:cNvPr id="6" name="Image 0" descr="C:\Users\zxq\.qoderworkcn\workspace\mqezlwzdh6d920ae\uploads\image_1781528059791_z1se0f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0120" y="1417320"/>
            <a:ext cx="102412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系统演示与测试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系统功能演示 — 文本分析</a:t>
            </a:r>
            <a:endParaRPr lang="en-US" sz="2600" dirty="0"/>
          </a:p>
        </p:txBody>
      </p:sp>
      <p:pic>
        <p:nvPicPr>
          <p:cNvPr id="8" name="Image 0" descr="C:\Users\zxq\.qoderworkcn\workspace\mqezlwzdh6d920ae\uploads\image_1781528059791_lj10n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670" y="1484825"/>
            <a:ext cx="6471068" cy="485330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13A6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4" name="Shape 2"/>
          <p:cNvSpPr/>
          <p:nvPr/>
        </p:nvSpPr>
        <p:spPr>
          <a:xfrm>
            <a:off x="4709160" y="2560320"/>
            <a:ext cx="2743200" cy="36576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74320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4C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总结与展望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技术困难分析与解决方案</a:t>
            </a:r>
            <a:endParaRPr lang="en-US" sz="2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/>
        </p:nvGraphicFramePr>
        <p:xfrm>
          <a:off x="960120" y="1508760"/>
          <a:ext cx="10241280" cy="4754880"/>
        </p:xfrm>
        <a:graphic>
          <a:graphicData uri="http://schemas.openxmlformats.org/drawingml/2006/table">
            <a:tbl>
              <a:tblPr/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问题描述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解决方案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小数据集微调大模型容易过拟合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采用 Frozen Encoder 策略，仅训练轻量级 MLP 头部，配合 Dropout(0.3) 正则化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不同题目组分数范围差异大（2–60分）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 essay set 独立 StandardScaler 标准化，避免数据泄漏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[CLS] token 对长短文本表示不均衡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采用 Mean Pooling 取所有 token 均值，对长短文本都更鲁棒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批量评分时内存占用过高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使用 DataLoader 分批加载，batch_size=128，避免一次性加载全部数据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模型服务化推理延迟较大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模型预加载 + 批量推理，单篇 &lt; 3秒，批量 &lt; 30秒/100篇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solidFill>
            <a:srgbClr val="F7F9FC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总结与展望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项目总结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080975" y="1608638"/>
            <a:ext cx="7308502" cy="18542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80975" y="1608638"/>
            <a:ext cx="46509" cy="1854268"/>
          </a:xfrm>
          <a:prstGeom prst="rect">
            <a:avLst/>
          </a:prstGeom>
          <a:solidFill>
            <a:srgbClr val="2BAE9B"/>
          </a:solidFill>
          <a:ln/>
        </p:spPr>
      </p:sp>
      <p:sp>
        <p:nvSpPr>
          <p:cNvPr id="8" name="Text 6"/>
          <p:cNvSpPr/>
          <p:nvPr/>
        </p:nvSpPr>
        <p:spPr>
          <a:xfrm>
            <a:off x="2355295" y="1700078"/>
            <a:ext cx="69098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AE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主要成果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55295" y="2157278"/>
            <a:ext cx="6909857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实现了基于 RoBERTa + MLP 的英文作文自动评分模型，5-fold QWK 均达 0.72+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构建了 Flask + Streamlit 前后端分离的完整 Web 系统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支持单篇评分、批量评分、历史管理、文本分析等功能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完成了单元测试、集成测试和确认测试全流程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80975" y="3923481"/>
            <a:ext cx="7308502" cy="1912723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80975" y="3923481"/>
            <a:ext cx="46509" cy="1912723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12" name="Text 10"/>
          <p:cNvSpPr/>
          <p:nvPr/>
        </p:nvSpPr>
        <p:spPr>
          <a:xfrm>
            <a:off x="2355295" y="4014921"/>
            <a:ext cx="69098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C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55295" y="4472121"/>
            <a:ext cx="6909857" cy="129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引入大语言模型 (LLM) 生成可解释性反馈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扩展作文评分能力，支持多语言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增加多维评分（结构、逻辑、语言、内容）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模型版本管理与 A/B 测试机制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F4C542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651760" y="2011680"/>
            <a:ext cx="68580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651760" y="2011680"/>
            <a:ext cx="64008" cy="2286000"/>
          </a:xfrm>
          <a:prstGeom prst="rect">
            <a:avLst/>
          </a:prstGeom>
          <a:solidFill>
            <a:srgbClr val="7FB0E0"/>
          </a:solidFill>
          <a:ln/>
        </p:spPr>
      </p:sp>
      <p:sp>
        <p:nvSpPr>
          <p:cNvPr id="6" name="Text 4"/>
          <p:cNvSpPr/>
          <p:nvPr/>
        </p:nvSpPr>
        <p:spPr>
          <a:xfrm>
            <a:off x="3108960" y="228600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谢谢大家，恳请老师批评指正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1415</Words>
  <Application>Microsoft Office PowerPoint</Application>
  <PresentationFormat>宽屏</PresentationFormat>
  <Paragraphs>383</Paragraphs>
  <Slides>33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7" baseType="lpstr"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基于深度学习的文本作业自动评分系统</dc:title>
  <dc:subject>PptxGenJS Presentation</dc:subject>
  <dc:creator>Group 5</dc:creator>
  <cp:lastModifiedBy>享钦 张</cp:lastModifiedBy>
  <cp:revision>4</cp:revision>
  <dcterms:created xsi:type="dcterms:W3CDTF">2026-06-15T15:17:04Z</dcterms:created>
  <dcterms:modified xsi:type="dcterms:W3CDTF">2026-06-18T13:03:01Z</dcterms:modified>
</cp:coreProperties>
</file>